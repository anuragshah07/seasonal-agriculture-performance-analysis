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7" y="3583914"/>
            <a:ext cx="3400089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/>
          </a:bodyPr>
          <a:lstStyle/>
          <a:p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317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85800" y="1965960"/>
            <a:ext cx="6126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/>
            </a:pPr>
            <a:r>
              <a:t>Seasonal Agriculture</a:t>
            </a:r>
            <a:br/>
            <a:r>
              <a:t>Performance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3246120"/>
            <a:ext cx="4389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/>
            </a:pPr>
            <a:r>
              <a:t>Student Name: Anurag Shah</a:t>
            </a:r>
            <a:br/>
            <a:r>
              <a:t>College: [Your College Name]</a:t>
            </a:r>
            <a:br/>
            <a:r>
              <a:t>AICTE STU ID: [Your STU ID]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>
              <a:lnSpc>
                <a:spcPct val="150000"/>
              </a:lnSpc>
              <a:defRPr sz="2500" b="1"/>
            </a:pPr>
            <a:r>
              <a:t>PROBLEM STATEMENT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777240" y="1508760"/>
            <a:ext cx="8138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• Agricultural performance varies across Kharif, Rabi and Zaid seasons.</a:t>
            </a:r>
          </a:p>
          <a:p>
            <a:pPr>
              <a:spcAft>
                <a:spcPts val="800"/>
              </a:spcAft>
              <a:defRPr sz="1900"/>
            </a:pPr>
            <a:r>
              <a:t>• Weather, soil conditions, irrigation and farming practices may influence outcomes.</a:t>
            </a:r>
          </a:p>
          <a:p>
            <a:pPr>
              <a:spcAft>
                <a:spcPts val="800"/>
              </a:spcAft>
              <a:defRPr sz="1900"/>
            </a:pPr>
            <a:r>
              <a:t>• Raw agricultural data does not clearly reveal seasonal patterns and differences.</a:t>
            </a:r>
          </a:p>
          <a:p>
            <a:pPr>
              <a:spcAft>
                <a:spcPts val="800"/>
              </a:spcAft>
              <a:defRPr sz="1900"/>
            </a:pPr>
            <a:r>
              <a:t>• Data analysis is required to identify meaningful trends, relationships and unusual variations.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/>
            </a:pPr>
            <a:r>
              <a:t>Agricultural Data  →  Seasonal Analysis  →  Insights  →  Better Planning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 wrap="square">
            <a:normAutofit fontScale="90000"/>
          </a:bodyPr>
          <a:lstStyle/>
          <a:p>
            <a:pPr>
              <a:defRPr sz="2500" b="1"/>
            </a:pPr>
            <a:r>
              <a:t>PROJECT DESCRIPTION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8412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Objective: analyze agricultural performance across seasons and identify meaningful patterns, relationships and differences.</a:t>
            </a:r>
          </a:p>
          <a:p>
            <a:pPr>
              <a:spcAft>
                <a:spcPts val="800"/>
              </a:spcAft>
              <a:defRPr sz="1700"/>
            </a:pPr>
            <a:r>
              <a:t>• Dataset: 4,000 records × 28 variables covering crop, location, environment, inputs, irrigation, production and economics.</a:t>
            </a:r>
          </a:p>
          <a:p>
            <a:pPr>
              <a:spcAft>
                <a:spcPts val="800"/>
              </a:spcAft>
              <a:defRPr sz="1700"/>
            </a:pPr>
            <a:r>
              <a:t>• Analysis: data cleaning, seasonal comparison, crop analysis, resource analysis, statistical testing and visualization.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Raw Dataset  →  Cleaning  →  EDA  →  Seasonal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Statistical Analysis  →  Insights  → 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 wrap="square">
            <a:normAutofit/>
          </a:bodyPr>
          <a:lstStyle/>
          <a:p>
            <a:pPr>
              <a:defRPr sz="2500" b="1"/>
            </a:pPr>
            <a:r>
              <a:t>WHO ARE THE END USERS?</a:t>
            </a:r>
            <a:endParaRPr lang="en-IN" sz="2000" dirty="0"/>
          </a:p>
        </p:txBody>
      </p:sp>
      <p:sp>
        <p:nvSpPr>
          <p:cNvPr id="17" name="Rounded Rectangle 16"/>
          <p:cNvSpPr/>
          <p:nvPr/>
        </p:nvSpPr>
        <p:spPr>
          <a:xfrm>
            <a:off x="777240" y="1508760"/>
            <a:ext cx="3474720" cy="1325880"/>
          </a:xfrm>
          <a:prstGeom prst="roundRect">
            <a:avLst/>
          </a:prstGeom>
          <a:solidFill>
            <a:srgbClr val="EBF5FA"/>
          </a:solidFill>
          <a:ln>
            <a:solidFill>
              <a:srgbClr val="28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/>
            </a:pPr>
            <a:r>
              <a:t>Farmers</a:t>
            </a:r>
          </a:p>
          <a:p>
            <a:pPr>
              <a:defRPr sz="1400"/>
            </a:pPr>
            <a:r>
              <a:t>Compare seasonal crop performance and resource 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1508760"/>
            <a:ext cx="3474720" cy="1325880"/>
          </a:xfrm>
          <a:prstGeom prst="roundRect">
            <a:avLst/>
          </a:prstGeom>
          <a:solidFill>
            <a:srgbClr val="EBF5FA"/>
          </a:solidFill>
          <a:ln>
            <a:solidFill>
              <a:srgbClr val="28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/>
            </a:pPr>
            <a:r>
              <a:t>Agricultural Planners</a:t>
            </a:r>
          </a:p>
          <a:p>
            <a:pPr>
              <a:defRPr sz="1400"/>
            </a:pPr>
            <a:r>
              <a:t>Use seasonal patterns for planning priorities.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46120"/>
            <a:ext cx="3474720" cy="1325880"/>
          </a:xfrm>
          <a:prstGeom prst="roundRect">
            <a:avLst/>
          </a:prstGeom>
          <a:solidFill>
            <a:srgbClr val="EBF5FA"/>
          </a:solidFill>
          <a:ln>
            <a:solidFill>
              <a:srgbClr val="28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/>
            </a:pPr>
            <a:r>
              <a:t>Researchers</a:t>
            </a:r>
          </a:p>
          <a:p>
            <a:pPr>
              <a:defRPr sz="1400"/>
            </a:pPr>
            <a:r>
              <a:t>Study crop, environmental and resource relationships.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3246120"/>
            <a:ext cx="3474720" cy="1325880"/>
          </a:xfrm>
          <a:prstGeom prst="roundRect">
            <a:avLst/>
          </a:prstGeom>
          <a:solidFill>
            <a:srgbClr val="EBF5FA"/>
          </a:solidFill>
          <a:ln>
            <a:solidFill>
              <a:srgbClr val="28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/>
            </a:pPr>
            <a:r>
              <a:t>Agricultural Organizations</a:t>
            </a:r>
          </a:p>
          <a:p>
            <a:pPr>
              <a:defRPr sz="1400"/>
            </a:pPr>
            <a:r>
              <a:t>Support evidence-based production and resource planning.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 wrap="square">
            <a:normAutofit/>
          </a:bodyPr>
          <a:lstStyle/>
          <a:p>
            <a:pPr>
              <a:defRPr sz="2500" b="1"/>
            </a:pPr>
            <a:r>
              <a:t>TECHNOLOGY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417320"/>
            <a:ext cx="3657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Python</a:t>
            </a:r>
          </a:p>
          <a:p>
            <a:pPr>
              <a:spcAft>
                <a:spcPts val="800"/>
              </a:spcAft>
              <a:defRPr sz="1800"/>
            </a:pPr>
            <a:r>
              <a:t>• Pandas — data preparation and aggregation</a:t>
            </a:r>
          </a:p>
          <a:p>
            <a:pPr>
              <a:spcAft>
                <a:spcPts val="800"/>
              </a:spcAft>
              <a:defRPr sz="1800"/>
            </a:pPr>
            <a:r>
              <a:t>• NumPy — numerical processing</a:t>
            </a:r>
          </a:p>
          <a:p>
            <a:pPr>
              <a:spcAft>
                <a:spcPts val="800"/>
              </a:spcAft>
              <a:defRPr sz="1800"/>
            </a:pPr>
            <a:r>
              <a:t>• SciPy — statistical tests</a:t>
            </a:r>
          </a:p>
          <a:p>
            <a:pPr>
              <a:spcAft>
                <a:spcPts val="800"/>
              </a:spcAft>
              <a:defRPr sz="1800"/>
            </a:pPr>
            <a:r>
              <a:t>• Matplotlib — visualization</a:t>
            </a:r>
          </a:p>
          <a:p>
            <a:pPr>
              <a:spcAft>
                <a:spcPts val="800"/>
              </a:spcAft>
              <a:defRPr sz="1800"/>
            </a:pPr>
            <a:r>
              <a:t>• Jupyter Notebook — reproducible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141732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CSV — source dataset</a:t>
            </a:r>
          </a:p>
          <a:p>
            <a:pPr>
              <a:spcAft>
                <a:spcPts val="800"/>
              </a:spcAft>
              <a:defRPr sz="1800"/>
            </a:pPr>
            <a:r>
              <a:t>• Exploratory Data Analysis</a:t>
            </a:r>
          </a:p>
          <a:p>
            <a:pPr>
              <a:spcAft>
                <a:spcPts val="800"/>
              </a:spcAft>
              <a:defRPr sz="1800"/>
            </a:pPr>
            <a:r>
              <a:t>• Descriptive statistics</a:t>
            </a:r>
          </a:p>
          <a:p>
            <a:pPr>
              <a:spcAft>
                <a:spcPts val="800"/>
              </a:spcAft>
              <a:defRPr sz="1800"/>
            </a:pPr>
            <a:r>
              <a:t>• Correlation analysis</a:t>
            </a:r>
          </a:p>
          <a:p>
            <a:pPr>
              <a:spcAft>
                <a:spcPts val="800"/>
              </a:spcAft>
              <a:defRPr sz="1800"/>
            </a:pPr>
            <a:r>
              <a:t>• Kruskal–Wallis test</a:t>
            </a:r>
          </a:p>
          <a:p>
            <a:pPr>
              <a:spcAft>
                <a:spcPts val="800"/>
              </a:spcAft>
              <a:defRPr sz="1800"/>
            </a:pPr>
            <a:r>
              <a:t>• One-way ANOVA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 wrap="square">
            <a:normAutofit/>
          </a:bodyPr>
          <a:lstStyle/>
          <a:p>
            <a:pPr>
              <a:defRPr sz="2500" b="1"/>
            </a:pPr>
            <a:r>
              <a:t>RESULTS — DATASET &amp; DATA PREPARATION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1" name="Picture 30" descr="ppt_seasonal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5623560" cy="32354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00800" y="141732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4,000 agricultural records and 28 variables.</a:t>
            </a:r>
          </a:p>
          <a:p>
            <a:pPr>
              <a:spcAft>
                <a:spcPts val="800"/>
              </a:spcAft>
              <a:defRPr sz="1500"/>
            </a:pPr>
            <a:r>
              <a:t>• Three seasons: Kharif, Rabi and Zaid.</a:t>
            </a:r>
          </a:p>
          <a:p>
            <a:pPr>
              <a:spcAft>
                <a:spcPts val="800"/>
              </a:spcAft>
              <a:defRPr sz="1500"/>
            </a:pPr>
            <a:r>
              <a:t>• 120 missing cells occur in rainfall, soil moisture and yield.</a:t>
            </a:r>
          </a:p>
          <a:p>
            <a:pPr>
              <a:spcAft>
                <a:spcPts val="800"/>
              </a:spcAft>
              <a:defRPr sz="1500"/>
            </a:pPr>
            <a:r>
              <a:t>• No duplicate rows were detected.</a:t>
            </a:r>
          </a:p>
          <a:p>
            <a:pPr>
              <a:spcAft>
                <a:spcPts val="800"/>
              </a:spcAft>
              <a:defRPr sz="1500"/>
            </a:pPr>
            <a:r>
              <a:t>• Cleaning and validation were completed before analysis.</a:t>
            </a:r>
          </a:p>
        </p:txBody>
      </p:sp>
      <p:pic>
        <p:nvPicPr>
          <p:cNvPr id="33" name="Picture 32" descr="code_clea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17720"/>
            <a:ext cx="5394960" cy="170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 wrap="square">
            <a:normAutofit/>
          </a:bodyPr>
          <a:lstStyle/>
          <a:p>
            <a:pPr>
              <a:defRPr sz="2500" b="1"/>
            </a:pPr>
            <a:r>
              <a:t>RESULTS — SEASONAL PERFORMANCE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1" name="Picture 30" descr="ppt_seasonal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5623560" cy="32354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00800" y="141732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Kharif average yield: 5.64 t/ha.</a:t>
            </a:r>
          </a:p>
          <a:p>
            <a:pPr>
              <a:spcAft>
                <a:spcPts val="800"/>
              </a:spcAft>
              <a:defRPr sz="1500"/>
            </a:pPr>
            <a:r>
              <a:t>• Rabi average yield: 5.08 t/ha.</a:t>
            </a:r>
          </a:p>
          <a:p>
            <a:pPr>
              <a:spcAft>
                <a:spcPts val="800"/>
              </a:spcAft>
              <a:defRPr sz="1500"/>
            </a:pPr>
            <a:r>
              <a:t>• Zaid average yield: 4.67 t/ha.</a:t>
            </a:r>
          </a:p>
          <a:p>
            <a:pPr>
              <a:spcAft>
                <a:spcPts val="800"/>
              </a:spcAft>
              <a:defRPr sz="1500"/>
            </a:pPr>
            <a:r>
              <a:t>• Kharif average profit is highest: ₹178,915/farm.</a:t>
            </a:r>
          </a:p>
          <a:p>
            <a:pPr>
              <a:spcAft>
                <a:spcPts val="800"/>
              </a:spcAft>
              <a:defRPr sz="1500"/>
            </a:pPr>
            <a:r>
              <a:t>• Seasonal averages should be interpreted with crop composition.</a:t>
            </a:r>
          </a:p>
        </p:txBody>
      </p:sp>
      <p:pic>
        <p:nvPicPr>
          <p:cNvPr id="33" name="Picture 32" descr="code_seaso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17720"/>
            <a:ext cx="5394960" cy="170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 wrap="square">
            <a:normAutofit/>
          </a:bodyPr>
          <a:lstStyle/>
          <a:p>
            <a:pPr>
              <a:defRPr sz="2500" b="1"/>
            </a:pPr>
            <a:r>
              <a:t>RESULTS — SEASONAL ENVIRONMENTAL CONDITIONS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1" name="Picture 30" descr="ppt_environ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5623560" cy="32354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00800" y="141732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Average rainfall: Kharif 852 mm.</a:t>
            </a:r>
          </a:p>
          <a:p>
            <a:pPr>
              <a:spcAft>
                <a:spcPts val="800"/>
              </a:spcAft>
              <a:defRPr sz="1500"/>
            </a:pPr>
            <a:r>
              <a:t>• Average rainfall: Rabi 436 mm.</a:t>
            </a:r>
          </a:p>
          <a:p>
            <a:pPr>
              <a:spcAft>
                <a:spcPts val="800"/>
              </a:spcAft>
              <a:defRPr sz="1500"/>
            </a:pPr>
            <a:r>
              <a:t>• Average rainfall: Zaid 299 mm.</a:t>
            </a:r>
          </a:p>
          <a:p>
            <a:pPr>
              <a:spcAft>
                <a:spcPts val="800"/>
              </a:spcAft>
              <a:defRPr sz="1500"/>
            </a:pPr>
            <a:r>
              <a:t>• Average temperature is highest in Zaid: 31.0 °C.</a:t>
            </a:r>
          </a:p>
          <a:p>
            <a:pPr>
              <a:spcAft>
                <a:spcPts val="800"/>
              </a:spcAft>
              <a:defRPr sz="1500"/>
            </a:pPr>
            <a:r>
              <a:t>• Observed disease/pest risk is highest in Kharif: 54.5%.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 wrap="square">
            <a:normAutofit/>
          </a:bodyPr>
          <a:lstStyle/>
          <a:p>
            <a:pPr>
              <a:defRPr sz="2500" b="1"/>
            </a:pPr>
            <a:r>
              <a:t>RESULTS — CROP &amp; RESOURCE ANALYSIS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1" name="Picture 30" descr="ppt_crop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4069080" cy="2341115"/>
          </a:xfrm>
          <a:prstGeom prst="rect">
            <a:avLst/>
          </a:prstGeom>
        </p:spPr>
      </p:pic>
      <p:pic>
        <p:nvPicPr>
          <p:cNvPr id="32" name="Picture 31" descr="ppt_irrigation_wa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234440"/>
            <a:ext cx="4069080" cy="234289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5800" y="41605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Crop performance varies substantially; irrigation methods also differ in average water use.</a:t>
            </a:r>
          </a:p>
        </p:txBody>
      </p:sp>
      <p:pic>
        <p:nvPicPr>
          <p:cNvPr id="34" name="Picture 33" descr="ppt_irrigation_y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20" y="4617720"/>
            <a:ext cx="4754880" cy="273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 wrap="square">
            <a:normAutofit/>
          </a:bodyPr>
          <a:lstStyle/>
          <a:p>
            <a:pPr>
              <a:defRPr sz="2500" b="1"/>
            </a:pPr>
            <a:r>
              <a:t>RESULTS — ECONOMIC &amp; STATISTICAL ANALYSIS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1" name="Picture 30" descr="ppt_seasonal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4069080" cy="2342898"/>
          </a:xfrm>
          <a:prstGeom prst="rect">
            <a:avLst/>
          </a:prstGeom>
        </p:spPr>
      </p:pic>
      <p:pic>
        <p:nvPicPr>
          <p:cNvPr id="32" name="Picture 31" descr="ppt_cor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143000"/>
            <a:ext cx="4297680" cy="315410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5800" y="457200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Kruskal–Wallis (yield): H = 68.60, p &lt; 0.001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57200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One-way ANOVA (yield): F = 1.46, p = 0.233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23036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Statistical results should be interpreted alongside crop mix and distribution shape.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 wrap="square">
            <a:normAutofit/>
          </a:bodyPr>
          <a:lstStyle/>
          <a:p>
            <a:pPr>
              <a:defRPr sz="2500" b="1"/>
            </a:pPr>
            <a: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777240" y="1325880"/>
            <a:ext cx="8138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Develop crop-specific seasonal benchmarks.</a:t>
            </a:r>
          </a:p>
          <a:p>
            <a:pPr>
              <a:spcAft>
                <a:spcPts val="800"/>
              </a:spcAft>
              <a:defRPr sz="1800"/>
            </a:pPr>
            <a:r>
              <a:t>• Add multi-year data to study trends and climate variability.</a:t>
            </a:r>
          </a:p>
          <a:p>
            <a:pPr>
              <a:spcAft>
                <a:spcPts val="800"/>
              </a:spcAft>
              <a:defRPr sz="1800"/>
            </a:pPr>
            <a:r>
              <a:t>• Build predictive models for yield, profit and disease/pest risk after validation.</a:t>
            </a:r>
          </a:p>
          <a:p>
            <a:pPr>
              <a:spcAft>
                <a:spcPts val="800"/>
              </a:spcAft>
              <a:defRPr sz="1800"/>
            </a:pPr>
            <a:r>
              <a:t>• Integrate real-time weather and market-price data.</a:t>
            </a:r>
          </a:p>
          <a:p>
            <a:pPr>
              <a:spcAft>
                <a:spcPts val="800"/>
              </a:spcAft>
              <a:defRPr sz="1800"/>
            </a:pPr>
            <a:r>
              <a:t>• Develop an interactive dashboard for filtering by season, crop, region and irrigation.</a:t>
            </a:r>
          </a:p>
          <a:p>
            <a:pPr>
              <a:spcAft>
                <a:spcPts val="800"/>
              </a:spcAft>
              <a:defRPr sz="1800"/>
            </a:pPr>
            <a:r>
              <a:t>• Add longitudinal farm-level data to support stronger causal analysis.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 wrap="square">
            <a:normAutofit/>
          </a:bodyPr>
          <a:lstStyle/>
          <a:p>
            <a:pPr>
              <a:defRPr sz="2500" b="1"/>
            </a:pPr>
            <a:r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777240" y="14173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GitHub Repository</a:t>
            </a:r>
            <a:br/>
            <a:r>
              <a:t>[Create repository and paste link here]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7432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t>Recommended repository contents:</a:t>
            </a:r>
            <a:br/>
            <a:r>
              <a:t>• Jupyter Notebook</a:t>
            </a:r>
            <a:br/>
            <a:r>
              <a:t>• Dataset / cleaned dataset</a:t>
            </a:r>
            <a:br/>
            <a:r>
              <a:t>• Charts / figures</a:t>
            </a:r>
            <a:br/>
            <a:r>
              <a:t>• README.md</a:t>
            </a:r>
            <a:br/>
            <a:r>
              <a:t>• requirements.txt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 wrap="square">
            <a:normAutofit fontScale="90000"/>
          </a:bodyPr>
          <a:lstStyle/>
          <a:p>
            <a:pPr>
              <a:defRPr sz="2500" b="1"/>
            </a:pPr>
            <a:r>
              <a:t>VOIS COURSE COMPLETION CERTIFICATE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822960" y="1508760"/>
            <a:ext cx="79552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t>Course: Data Visualization</a:t>
            </a:r>
            <a:br/>
            <a:br/>
            <a:r>
              <a:t>Attach the official VOIS course completion certificate here after completion.</a:t>
            </a:r>
          </a:p>
        </p:txBody>
      </p:sp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/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  <p:sp>
        <p:nvSpPr>
          <p:cNvPr id="46" name="TextBox 45"/>
          <p:cNvSpPr txBox="1"/>
          <p:nvPr/>
        </p:nvSpPr>
        <p:spPr>
          <a:xfrm>
            <a:off x="3474720" y="2514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t>Thank you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3291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556</TotalTime>
  <Words>71</Words>
  <Application>Microsoft Office PowerPoint</Application>
  <PresentationFormat>Widescreen</PresentationFormat>
  <Paragraphs>18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97</cp:revision>
  <dcterms:created xsi:type="dcterms:W3CDTF">2021-07-11T13:13:15Z</dcterms:created>
  <dcterms:modified xsi:type="dcterms:W3CDTF">2026-09-02T10:35:59Z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